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INTERNATIONAL SPORTS ANALYTICS &amp; MACHINE LEARNING COMPETITION</a:t>
            </a:r>
          </a:p>
          <a:p>
            <a:pPr>
              <a:spcBef>
                <a:spcPts val="1200"/>
              </a:spcBef>
              <a:defRPr sz="3800" b="1">
                <a:solidFill>
                  <a:srgbClr val="F8FAFC"/>
                </a:solidFill>
              </a:defRPr>
            </a:pPr>
            <a:r>
              <a:t>Predicting Athlete Injury Risk</a:t>
            </a:r>
          </a:p>
          <a:p>
            <a:pPr>
              <a:spcBef>
                <a:spcPts val="800"/>
              </a:spcBef>
              <a:defRPr sz="1600">
                <a:solidFill>
                  <a:srgbClr val="60A5FA"/>
                </a:solidFill>
              </a:defRPr>
            </a:pPr>
            <a:r>
              <a:t>Multimodal, Leakage-Safe Machine Learning for Injury Risk, Onset Timing &amp; Recovery Modeling</a:t>
            </a:r>
          </a:p>
          <a:p>
            <a:pPr>
              <a:spcBef>
                <a:spcPts val="1600"/>
              </a:spcBef>
              <a:defRPr sz="1100">
                <a:solidFill>
                  <a:srgbClr val="334155"/>
                </a:solidFill>
              </a:defRPr>
            </a:pPr>
            <a:r>
              <a:t>―――――――――――――――――――――――――――――――――――――――――――――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Technical Solution Architecture &amp; Empirical Defense</a:t>
            </a:r>
            <a:br/>
            <a:r>
              <a:t>Production Repository: github.com/bhavya277/ML-Model-for-Athletes</a:t>
            </a:r>
            <a:br/>
            <a:r>
              <a:t>Strict Temporal Firewall • Fold-Local Preprocessing • Multi-Target Ensemble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SECTION 02 | ATHLETE INJURY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Formulation &amp; Multi-Target Horizon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Forecasting future 30-day injury probability, onset timing, and recovery duration across all athletes.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The Clinical &amp; Predictive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• Core Predictive Question:</a:t>
            </a:r>
            <a:br/>
            <a:r>
              <a:t>  Can wearable time-series signals available BEFORE an injury event reliably forecast future breakdown risk?</a:t>
            </a:r>
            <a:br/>
            <a:br/>
            <a:r>
              <a:t>• Temporal Forecasting Horizon:</a:t>
            </a:r>
            <a:br/>
            <a:r>
              <a:t>  Past 30 Days (Observation: 2026-01-05 to 2026-02-03)</a:t>
            </a:r>
            <a:br/>
            <a:r>
              <a:t>  ──&gt; Prediction Cutoff: 2026-02-03 23:59:59</a:t>
            </a:r>
            <a:br/>
            <a:r>
              <a:t>  ──&gt; Future 30 Days (Risk Window: 2026-02-04 to 2026-03-05)</a:t>
            </a:r>
            <a:br/>
            <a:br/>
            <a:r>
              <a:t>• The Official PlayHack Tasks:</a:t>
            </a:r>
            <a:br/>
            <a:r>
              <a:t>  1. Task A: Injury occurrence in risk window (Evaluated via F1-score)</a:t>
            </a:r>
            <a:br/>
            <a:r>
              <a:t>  2. Task B: Onset Timing &amp; Recovery Duration (Evaluated for actually injured athletes)</a:t>
            </a:r>
            <a:br/>
            <a:r>
              <a:t>  3. Missed-Injury Penalty: n_risk = 30 applied to both timing targets on false negatives.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The Three Prediction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1. injured_in_risk_window (Binary Classification)</a:t>
            </a:r>
            <a:br/>
            <a:r>
              <a:t>   • 0 = Non-Injured, 1 = Injured</a:t>
            </a:r>
            <a:br/>
            <a:r>
              <a:t>   • Training Prevalence: 35.0% (1,050 / 3,000 athletes)</a:t>
            </a:r>
            <a:br/>
            <a:br/>
            <a:r>
              <a:t>2. onset_day_offset (Timing Prediction)</a:t>
            </a:r>
            <a:br/>
            <a:r>
              <a:t>   • Target range: Integer days [1, 30]</a:t>
            </a:r>
            <a:br/>
            <a:r>
              <a:t>   • Provided for ALL athletes per official PlayHack PS requirement.</a:t>
            </a:r>
            <a:br/>
            <a:br/>
            <a:r>
              <a:t>3. recovery_duration (Duration Prediction)</a:t>
            </a:r>
            <a:br/>
            <a:r>
              <a:t>   • Target range: Integer days [5, 20]</a:t>
            </a:r>
            <a:br/>
            <a:r>
              <a:t>   • Provided for ALL athletes per official PlayHack PS requirement.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SECTION 03 | ATHLETE INJURY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Dataset Forensics &amp; Multimodal Signals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5 active data streams capturing physiology, sleep architecture, training loads, and anthropometrics.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Cohort &amp;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Training Cohort:</a:t>
            </a:r>
            <a:br/>
            <a:r>
              <a:t>  3,000 unique athletes (IDs 1–3000)</a:t>
            </a:r>
            <a:br/>
            <a:br/>
            <a:r>
              <a:t>• Test Cohort:</a:t>
            </a:r>
            <a:br/>
            <a:r>
              <a:t>  1,100 unique athletes (IDs 3001–4100)</a:t>
            </a:r>
            <a:br/>
            <a:br/>
            <a:r>
              <a:t>• Athlete Overlap: 0 (Disjoint cohorts)</a:t>
            </a:r>
            <a:br/>
            <a:br/>
            <a:r>
              <a:t>• Observation Period:</a:t>
            </a:r>
            <a:br/>
            <a:r>
              <a:t>  Exactly 30 days per athlete (2026-01-05 to 2026-02-03)</a:t>
            </a:r>
            <a:br/>
            <a:br/>
            <a:r>
              <a:t>• Sports Represented:</a:t>
            </a:r>
            <a:br/>
            <a:r>
              <a:t>  Football, Basketball, Athletics, Badminton, Tennis, Volleyball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40233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5 Validated Ingestion Modalities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1. Static Athlete Metadata (11 features):</a:t>
            </a:r>
            <a:br/>
            <a:r>
              <a:t>   Age, gender, height, weight, position, prior injuries.</a:t>
            </a:r>
            <a:br/>
            <a:br/>
            <a:r>
              <a:t>2. Daily Activity Logs (10 metrics):</a:t>
            </a:r>
            <a:br/>
            <a:r>
              <a:t>   Steps, active minutes (very/fairly/lightly), calories.</a:t>
            </a:r>
            <a:br/>
            <a:br/>
            <a:r>
              <a:t>3. Sleep Day Logs (5 metrics):</a:t>
            </a:r>
            <a:br/>
            <a:r>
              <a:t>   Total minutes asleep, time in bed, sleep records.</a:t>
            </a:r>
            <a:br/>
            <a:br/>
            <a:r>
              <a:t>4. Training Sessions (6 metrics):</a:t>
            </a:r>
            <a:br/>
            <a:r>
              <a:t>   Practice, gym, scrimmage counts &amp; durations.</a:t>
            </a:r>
            <a:br/>
            <a:br/>
            <a:r>
              <a:t>5. Hourly Heart Rate (5 metrics):</a:t>
            </a:r>
            <a:br/>
            <a:r>
              <a:t>   Continuous ISO-timestamped HR, resting/peak proxies.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554480"/>
            <a:ext cx="286481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691640"/>
            <a:ext cx="2499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ADE80"/>
                </a:solidFill>
              </a:defRPr>
            </a:pPr>
            <a:r>
              <a:t>Quality &amp; Drift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10312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Covariate Shift Audit:</a:t>
            </a:r>
            <a:br/>
            <a:r>
              <a:t>  Most numeric demographic features showed no statistically significant train–test shift; categorical drift was detected for position and dominant side.</a:t>
            </a:r>
            <a:br/>
            <a:br/>
            <a:r>
              <a:t>• Missingness Audit:</a:t>
            </a:r>
            <a:br/>
            <a:r>
              <a:t>  0% nulls in metadata, daily activity, and sleep tables.</a:t>
            </a:r>
            <a:br/>
            <a:br/>
            <a:r>
              <a:t>• Modality Selection:</a:t>
            </a:r>
            <a:br/>
            <a:r>
              <a:t>  Weight logs were excluded due to substantial missingness and limited athlete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SECTION 04 | ATHLETE INJURY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Exploratory Data Analysis: What Did We Discover?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Ground truth distributions reveal sharp workload-injury dynamics and sport-specific baselines.</a:t>
            </a:r>
          </a:p>
        </p:txBody>
      </p:sp>
      <p:pic>
        <p:nvPicPr>
          <p:cNvPr id="5" name="Picture 4" descr="fig1_target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1828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554480"/>
            <a:ext cx="396209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59" y="1691640"/>
            <a:ext cx="35963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Three Core Discoveries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0312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1. 35% Positive Injury Prevalence:</a:t>
            </a:r>
            <a:br/>
            <a:r>
              <a:t>   • Exactly 1,050 of 3,000 training athletes.</a:t>
            </a:r>
            <a:br/>
            <a:r>
              <a:t>   • Onset days spread across the 30-day risk window.</a:t>
            </a:r>
            <a:br/>
            <a:r>
              <a:t>   • Recovery exhibits a unimodal distribution centered at 11.55 days.</a:t>
            </a:r>
            <a:br/>
            <a:br/>
            <a:r>
              <a:t>2. Workload Variation Precedes Injury:</a:t>
            </a:r>
            <a:br/>
            <a:r>
              <a:t>   Athletes suffering injuries show high acute load volatility in the final 7 historical days.</a:t>
            </a:r>
            <a:br/>
            <a:br/>
            <a:r>
              <a:t>3. High-Risk Position Profiles:</a:t>
            </a:r>
            <a:br/>
            <a:r>
              <a:t>   Football defenders (42.4%) and Volleyball liberos (42.6%) exhibit elevated baseline vulnerability.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SECTION 05 | ATHLETE INJURY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Key Biomechanical &amp; Sports Science Insights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Evidence-backed findings linking acute training spikes, sleep debt, and cardiac stress to injury risk.</a:t>
            </a:r>
          </a:p>
        </p:txBody>
      </p:sp>
      <p:pic>
        <p:nvPicPr>
          <p:cNvPr id="5" name="Picture 4" descr="fig2_workload_acwr_vs_inju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400800" cy="2286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554480"/>
            <a:ext cx="414497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0" y="1691640"/>
            <a:ext cx="3779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Evidence-Backed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10312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F8FAFC"/>
                </a:solidFill>
              </a:defRPr>
            </a:pPr>
            <a:r>
              <a:t>1. Workload Spikes Associated with Earlier Onset (r = -0.863):</a:t>
            </a:r>
            <a:br/>
            <a:r>
              <a:t>   • Finding: Higher recent-to-baseline workload ratios were strongly associated with earlier injury onset in the risk window.</a:t>
            </a:r>
            <a:br/>
            <a:r>
              <a:t>   • Meaning: Acute workload surges provide strong predictive signal for early breakdown timing.</a:t>
            </a:r>
            <a:br/>
            <a:br/>
            <a:r>
              <a:t>2. Sleep Deficit Interaction:</a:t>
            </a:r>
            <a:br/>
            <a:r>
              <a:t>   • Finding: Higher sleep deficit combined with elevated workload provided additional predictive signal (associated with 1.8x higher injury rate).</a:t>
            </a:r>
            <a:br/>
            <a:r>
              <a:t>   • Meaning: Sleep debt compounds workload strain.</a:t>
            </a:r>
            <a:br/>
            <a:br/>
            <a:r>
              <a:t>3. Sustained Cardiac Exposure:</a:t>
            </a:r>
            <a:br/>
            <a:r>
              <a:t>   • Finding: % hours with HR &gt;= 120 bpm outside training is an informative marker of fatigue.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SECTION 06 | ATHLETE INJURY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Leakage Prevention: Formal Temporal Firewall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Strict temporal filtering preventing post-cutoff observations from contaminating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Temporal Boundary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Historical Window (Features Allowed):</a:t>
            </a:r>
            <a:br/>
            <a:r>
              <a:t>  2026-01-05 00:00:00  ──&gt;  2026-02-03 23:59:59</a:t>
            </a:r>
            <a:br/>
            <a:br/>
            <a:r>
              <a:t>═════════════ STRICT CUTOFF BARRIER ═════════════</a:t>
            </a:r>
            <a:br/>
            <a:br/>
            <a:r>
              <a:t>• Future Risk Window (FORBIDDEN FOR FEATURES):</a:t>
            </a:r>
            <a:br/>
            <a:r>
              <a:t>  2026-02-04 00:00:00  ──&gt;  2026-03-05 23:59:59</a:t>
            </a:r>
            <a:br/>
            <a:br/>
            <a:r>
              <a:t>• Raw Data Hazard Identified:</a:t>
            </a:r>
            <a:br/>
            <a:r>
              <a:t>  Raw training files contain 60 days of data, while test contains 30 days. Unwindowed aggregation would silently leak future injury activity drops.</a:t>
            </a:r>
            <a:br/>
            <a:br/>
            <a:r>
              <a:t>• Ingestion Firewall Enforcement:</a:t>
            </a:r>
            <a:br/>
            <a:r>
              <a:t>  Every loader strictly filters Date &lt;= 2026-02-03.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Leakage Sanity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Adversarial Shuffled Target Test:</a:t>
            </a:r>
            <a:br/>
            <a:r>
              <a:t>  Randomly permuted ground-truth training labels and retrained the entire pipeline.</a:t>
            </a:r>
            <a:br/>
            <a:br/>
            <a:r>
              <a:t>• Empirical Results:</a:t>
            </a:r>
            <a:br/>
            <a:r>
              <a:t>  - Shuffled Target ROC-AUC: 0.4952 (Consistent with near-random performance)</a:t>
            </a:r>
            <a:br/>
            <a:r>
              <a:t>  - Shuffled Target Accuracy: 0.5950 (Majority class baseline)</a:t>
            </a:r>
            <a:br/>
            <a:r>
              <a:t>  - Shuffled Target Onset R²: -0.0120 (Zero signal captured)</a:t>
            </a:r>
            <a:br/>
            <a:br/>
            <a:r>
              <a:t>• Leakage Sanity Evidence:</a:t>
            </a:r>
            <a:br/>
            <a:r>
              <a:t>  Demonstrates that predictive performance stems strictly from genuine pre-cutoff physiological signal, with zero structural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SECTION 07 | ATHLETE INJURY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Engineering Engine (74 Raw / 92 Encoded)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Polars-powered vectorized extraction transforming millions of hourly records into an athlete-level matrix.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Anthropometrics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• Demographics: Age, gender, dominant side.</a:t>
            </a:r>
            <a:br/>
            <a:r>
              <a:t>• Physical Build: Height, baseline weight, BMI.</a:t>
            </a:r>
            <a:br/>
            <a:r>
              <a:t>• History: Years playing, prior season injury count.</a:t>
            </a:r>
            <a:br/>
            <a:r>
              <a:t>• Ratios: Experience-to-age ratio.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56032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91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2. Workload Dynamics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• Chronic: 30d steps &amp; calories mean/std.</a:t>
            </a:r>
            <a:br/>
            <a:r>
              <a:t>• Acute: 7d &amp; 3d recent activity volume.</a:t>
            </a:r>
            <a:br/>
            <a:r>
              <a:t>• Workload Ratio: steps_acwr_7_30 (7d/30d ratio).</a:t>
            </a:r>
            <a:br/>
            <a:r>
              <a:t>• Strain: Workload Monotony × Volume.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56032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3. Sleep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• Quality: Minutes asleep, time in bed, efficiency.</a:t>
            </a:r>
            <a:br/>
            <a:r>
              <a:t>• Sleep Debt: max(0, 480 - sleep_min) 7d &amp; 30d.</a:t>
            </a:r>
            <a:br/>
            <a:r>
              <a:t>• Volatility: 30d sleep std &amp; CV.</a:t>
            </a:r>
            <a:br/>
            <a:r>
              <a:t>• Interaction: Workload spike × sleep deficit.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4990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691640"/>
            <a:ext cx="2133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ADE80"/>
                </a:solidFill>
              </a:defRPr>
            </a:pPr>
            <a:r>
              <a:t>4. Sessions &amp;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• Training Loads: Practice, gym, scrimmage counts &amp; hours.</a:t>
            </a:r>
            <a:br/>
            <a:r>
              <a:t>• Cardiac Stress: % hours with HR &gt;= 120 bpm.</a:t>
            </a:r>
            <a:br/>
            <a:r>
              <a:t>• Resting Proxy: 10th percentile daily HR.</a:t>
            </a:r>
            <a:br/>
            <a:r>
              <a:t>• HR Dynamics: 7d vs 30d HR delta.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SECTION 08 | ATHLETE INJURY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Multi-Target Modeling Architecture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Multi-model weighted probability ensemble paired with dual bounded regressors.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Target 1: Injury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Architecture: Weighted Probability Ensemble</a:t>
            </a:r>
            <a:br/>
            <a:r>
              <a:t>  - CatBoost (45% weight)</a:t>
            </a:r>
            <a:br/>
            <a:r>
              <a:t>  - LightGBM (35% weight)</a:t>
            </a:r>
            <a:br/>
            <a:r>
              <a:t>  - Random Forest (20% weight)</a:t>
            </a:r>
            <a:br/>
            <a:br/>
            <a:r>
              <a:t>• Uncalibrated Ensemble:</a:t>
            </a:r>
            <a:br/>
            <a:r>
              <a:t>  Raw tree ensemble achieves optimal Brier score (0.1453).</a:t>
            </a:r>
            <a:br/>
            <a:br/>
            <a:r>
              <a:t>• Decision Gate: Threshold 0.50 yields 97.23% precision and 82.1%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Target 2: Onset Regressor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Architecture: Tree Regression Ensemble</a:t>
            </a:r>
            <a:br/>
            <a:r>
              <a:t>  - Random Forest Regressor (60%)</a:t>
            </a:r>
            <a:br/>
            <a:r>
              <a:t>  - CatBoost Regressor (40%)</a:t>
            </a:r>
            <a:br/>
            <a:br/>
            <a:r>
              <a:t>• Domain Constraint:</a:t>
            </a:r>
            <a:br/>
            <a:r>
              <a:t>  Predictions clipped strictly to [1, 30] days.</a:t>
            </a:r>
            <a:br/>
            <a:br/>
            <a:r>
              <a:t>• Generalization Performance:</a:t>
            </a:r>
            <a:br/>
            <a:r>
              <a:t>  Unpenalized MAE = 2.6448 days, R² = 0.7820 (explains 78.2% of timing variance among injured).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134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47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ADE80"/>
                </a:solidFill>
              </a:defRPr>
            </a:pPr>
            <a:r>
              <a:t>Target 3: Recovery Regressor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1031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Architecture: Regularized Ensemble</a:t>
            </a:r>
            <a:br/>
            <a:r>
              <a:t>  - Ridge Regression (50%)</a:t>
            </a:r>
            <a:br/>
            <a:r>
              <a:t>  - CatBoost Regressor (50%)</a:t>
            </a:r>
            <a:br/>
            <a:br/>
            <a:r>
              <a:t>• Domain Constraint:</a:t>
            </a:r>
            <a:br/>
            <a:r>
              <a:t>  Predictions clipped strictly to [5, 20] days.</a:t>
            </a:r>
            <a:br/>
            <a:br/>
            <a:r>
              <a:t>• Regularized Shrinkage Formulation:</a:t>
            </a:r>
            <a:br/>
            <a:r>
              <a:t>  L2 regularization prevents extreme tail variance on noisy residual signal (Unpenalized MAE = 2.9629 days).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SECTION 09 | ATHLETE INJURY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Validation Methodology &amp; Candidate Benchmarking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5-Fold Sport + Target Stratified CV with strict fold-local imputation and scaling.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1148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Validation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Joint Stratification:</a:t>
            </a:r>
            <a:br/>
            <a:r>
              <a:t>  Folds are stratified by Sport + Target status to preserve class and athletic discipline balance.</a:t>
            </a:r>
            <a:br/>
            <a:br/>
            <a:r>
              <a:t>• Strict Fold-Local Preprocessing:</a:t>
            </a:r>
            <a:br/>
            <a:r>
              <a:t>  Median imputation and StandardScaler are fit on training folds ONLY, preventing validation data leakage.</a:t>
            </a:r>
            <a:br/>
            <a:br/>
            <a:r>
              <a:t>• Disjoint Athlete Guarantee:</a:t>
            </a:r>
            <a:br/>
            <a:r>
              <a:t>  Athletes in validation are strictly unseen during training fold fitting.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554480"/>
            <a:ext cx="633953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691640"/>
            <a:ext cx="59737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Out-of-Fold Model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103120"/>
            <a:ext cx="5943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50" b="1">
                <a:solidFill>
                  <a:srgbClr val="F8FAFC"/>
                </a:solidFill>
              </a:defRPr>
            </a:pPr>
            <a:r>
              <a:t>Model Candidate                  | ROC-AUC | PR-AUC  | F1     | Brier </a:t>
            </a:r>
          </a:p>
          <a:p>
            <a:pPr>
              <a:spcBef>
                <a:spcPts val="300"/>
              </a:spcBef>
              <a:defRPr sz="1050" b="0">
                <a:solidFill>
                  <a:srgbClr val="F8FAFC"/>
                </a:solidFill>
              </a:defRPr>
            </a:pPr>
            <a:r>
              <a:t>Logistic Regression Baseline     | 0.7620  | 0.7571  | 0.6538 | 0.1489</a:t>
            </a:r>
          </a:p>
          <a:p>
            <a:pPr>
              <a:spcBef>
                <a:spcPts val="300"/>
              </a:spcBef>
              <a:defRPr sz="1050" b="0">
                <a:solidFill>
                  <a:srgbClr val="F8FAFC"/>
                </a:solidFill>
              </a:defRPr>
            </a:pPr>
            <a:r>
              <a:t>Random Forest Classifier         | 0.7633  | 0.7532  | 0.6529 | 0.1468</a:t>
            </a:r>
          </a:p>
          <a:p>
            <a:pPr>
              <a:spcBef>
                <a:spcPts val="300"/>
              </a:spcBef>
              <a:defRPr sz="1050" b="0">
                <a:solidFill>
                  <a:srgbClr val="F8FAFC"/>
                </a:solidFill>
              </a:defRPr>
            </a:pPr>
            <a:r>
              <a:t>Extra Trees Classifier           | 0.7569  | 0.7490  | 0.6493 | 0.1475</a:t>
            </a:r>
          </a:p>
          <a:p>
            <a:pPr>
              <a:spcBef>
                <a:spcPts val="300"/>
              </a:spcBef>
              <a:defRPr sz="1050" b="0">
                <a:solidFill>
                  <a:srgbClr val="F8FAFC"/>
                </a:solidFill>
              </a:defRPr>
            </a:pPr>
            <a:r>
              <a:t>HistGradientBoosting             | 0.7571  | 0.7496  | 0.6510 | 0.1638</a:t>
            </a:r>
          </a:p>
          <a:p>
            <a:pPr>
              <a:spcBef>
                <a:spcPts val="300"/>
              </a:spcBef>
              <a:defRPr sz="1050" b="0">
                <a:solidFill>
                  <a:srgbClr val="F8FAFC"/>
                </a:solidFill>
              </a:defRPr>
            </a:pPr>
            <a:r>
              <a:t>XGBoost Classifier               | 0.7535  | 0.7515  | 0.6523 | 0.1483</a:t>
            </a:r>
          </a:p>
          <a:p>
            <a:pPr>
              <a:spcBef>
                <a:spcPts val="300"/>
              </a:spcBef>
              <a:defRPr sz="1050" b="0">
                <a:solidFill>
                  <a:srgbClr val="F8FAFC"/>
                </a:solidFill>
              </a:defRPr>
            </a:pPr>
            <a:r>
              <a:t>LightGBM Classifier              | 0.7527  | 0.7483  | 0.6511 | 0.1544</a:t>
            </a:r>
          </a:p>
          <a:p>
            <a:pPr>
              <a:spcBef>
                <a:spcPts val="300"/>
              </a:spcBef>
              <a:defRPr sz="1050" b="0">
                <a:solidFill>
                  <a:srgbClr val="F8FAFC"/>
                </a:solidFill>
              </a:defRPr>
            </a:pPr>
            <a:r>
              <a:t>CatBoost Classifier              | 0.7607  | 0.7557  | 0.6575 | 0.1457</a:t>
            </a:r>
          </a:p>
          <a:p>
            <a:pPr>
              <a:spcBef>
                <a:spcPts val="300"/>
              </a:spcBef>
              <a:defRPr sz="1050" b="1">
                <a:solidFill>
                  <a:srgbClr val="38BDF8"/>
                </a:solidFill>
              </a:defRPr>
            </a:pPr>
            <a:r>
              <a:t>★ Weighted Ensemble (Selected)   | 0.7624  | 0.7570  | 0.6621 | 0.1453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SECTION 10 | ATHLETE INJURY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Final Validated Cross-Validation Performance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Out-of-fold performance evaluated across all 5 folds with strict fold-local preprocessing.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Task A: Injury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0.7624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Out-of-Fold ROC-AUC (Fold: 0.7627 ± 0.017)</a:t>
            </a:r>
            <a:br/>
            <a:r>
              <a:t>PR-AUC: 0.7570 | F1-Score: 0.6621</a:t>
            </a:r>
            <a:br/>
            <a:r>
              <a:t>Precision: 97.23% | Recall: 50.19%</a:t>
            </a:r>
            <a:br/>
            <a:r>
              <a:t>Brier Score: 0.1453 | Accuracy: 82.1%</a:t>
            </a:r>
          </a:p>
          <a:p>
            <a:pPr>
              <a:spcBef>
                <a:spcPts val="1400"/>
              </a:spcBef>
              <a:defRPr sz="1150">
                <a:solidFill>
                  <a:srgbClr val="60A5FA"/>
                </a:solidFill>
              </a:defRPr>
            </a:pPr>
            <a:r>
              <a:t>Key Takeaway:</a:t>
            </a:r>
            <a:br/>
            <a:r>
              <a:t>High discrimination between injured and non-injured athletes across all sports disciplines.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Task B: Onset Timing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2.64 d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Unpenalized MAE (Actually Injured): 2.6448d</a:t>
            </a:r>
            <a:br/>
            <a:r>
              <a:t>RMSE: 4.0984d | R² Score: 0.7820</a:t>
            </a:r>
            <a:br/>
            <a:r>
              <a:t>Onset Skill vs Mean Baseline (7.61d): +0.6527</a:t>
            </a:r>
            <a:br/>
            <a:r>
              <a:t>Official Penalized MAE (n_risk=30): 15.3067d*</a:t>
            </a:r>
          </a:p>
          <a:p>
            <a:pPr>
              <a:spcBef>
                <a:spcPts val="1400"/>
              </a:spcBef>
              <a:defRPr sz="1050">
                <a:solidFill>
                  <a:srgbClr val="38BDF8"/>
                </a:solidFill>
              </a:defRPr>
            </a:pPr>
            <a:r>
              <a:t>*Note: When an actual injury is missed by the classifier, the official evaluation applies n_risk = 30 days to both timing errors (523 false negatives).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134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47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ADE80"/>
                </a:solidFill>
              </a:defRPr>
            </a:pPr>
            <a:r>
              <a:t>Task B: Recovery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DE80"/>
                </a:solidFill>
              </a:defRPr>
            </a:pPr>
            <a:r>
              <a:t>2.96 d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Unpenalized MAE (Actually Injured): 2.9629d</a:t>
            </a:r>
            <a:br/>
            <a:r>
              <a:t>RMSE: 3.4700d | R² Score: 0.2037</a:t>
            </a:r>
            <a:br/>
            <a:r>
              <a:t>Recovery Skill vs Mean Baseline (3.24d): +0.0860</a:t>
            </a:r>
            <a:br/>
            <a:r>
              <a:t>Official Penalized MAE (n_risk=30): 16.4219d*</a:t>
            </a:r>
          </a:p>
          <a:p>
            <a:pPr>
              <a:spcBef>
                <a:spcPts val="1400"/>
              </a:spcBef>
              <a:defRPr sz="1050">
                <a:solidFill>
                  <a:srgbClr val="38BDF8"/>
                </a:solidFill>
              </a:defRPr>
            </a:pPr>
            <a:r>
              <a:t>*Note: When an actual injury is missed by the classifier, the official evaluation applies n_risk = 30 days to both timing errors (523 false negatives).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SECTION 11 | ATHLETE INJURY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Model Explainability &amp; Diagnostic Analysis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Permutation importance on held-out folds and residual bias analysis across recovery tiers.</a:t>
            </a:r>
          </a:p>
        </p:txBody>
      </p:sp>
      <p:pic>
        <p:nvPicPr>
          <p:cNvPr id="5" name="Picture 4" descr="fig4_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120640" cy="2560320"/>
          </a:xfrm>
          <a:prstGeom prst="rect">
            <a:avLst/>
          </a:prstGeom>
        </p:spPr>
      </p:pic>
      <p:pic>
        <p:nvPicPr>
          <p:cNvPr id="6" name="Picture 5" descr="fig5_recovery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SECTION 12 | ATHLETE INJURY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Summary, Pipeline Deployment &amp; Reproducibility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From raw multi-modal telemetry to validated competition submission and production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Summary of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1. Strict Temporal Firewall:</a:t>
            </a:r>
            <a:br/>
            <a:r>
              <a:t>   Cutoff (Date &lt;= 2026-02-03) strictly enforced across all 5 streams.</a:t>
            </a:r>
            <a:br/>
            <a:br/>
            <a:r>
              <a:t>2. Multi-Modal Feature Vectorization:</a:t>
            </a:r>
            <a:br/>
            <a:r>
              <a:t>   74 raw features (92 encoded) extracted in &lt;8s via Polars.</a:t>
            </a:r>
            <a:br/>
            <a:br/>
            <a:r>
              <a:t>3. Robust Multi-Target Ensemble:</a:t>
            </a:r>
            <a:br/>
            <a:r>
              <a:t>   ROC-AUC 0.7624, Onset MAE 2.64d (R² 0.782), Recovery MAE 2.96d.</a:t>
            </a:r>
            <a:br/>
            <a:br/>
            <a:r>
              <a:t>4. Diagnostic Transparency:</a:t>
            </a:r>
            <a:br/>
            <a:r>
              <a:t>   Acknowledged that recovery duration is fundamentally noisy from pre-injury wearables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ADE80"/>
                </a:solidFill>
              </a:defRPr>
            </a:pPr>
            <a:r>
              <a:t>Production Deployment &amp;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Submission Status (predictions/submission.csv):</a:t>
            </a:r>
            <a:br/>
            <a:r>
              <a:t>  ✓ Exactly 1,100 test athletes (3001 to 4100)</a:t>
            </a:r>
            <a:br/>
            <a:r>
              <a:t>  ✓ 100% integer types, 0 nulls, 0 duplicate IDs</a:t>
            </a:r>
            <a:br/>
            <a:r>
              <a:t>  ✓ Complete timing predictions populated across all 1,100 rows</a:t>
            </a:r>
            <a:br/>
            <a:r>
              <a:t>  ✓ 255 predicted injured (23.2%), 845 non-injured (76.8%)</a:t>
            </a:r>
            <a:br/>
            <a:br/>
            <a:r>
              <a:t>• End-to-End Clean Reproduction:</a:t>
            </a:r>
            <a:br/>
            <a:r>
              <a:t>  python src/train.py</a:t>
            </a:r>
            <a:br/>
            <a:r>
              <a:t>  python src/predict.py</a:t>
            </a:r>
            <a:br/>
            <a:r>
              <a:t>  python src/validate_submission.py</a:t>
            </a:r>
            <a:br/>
            <a:br/>
            <a:r>
              <a:t>• Public Repository:</a:t>
            </a:r>
            <a:br/>
            <a:r>
              <a:t>  github.com/bhavya277/ML-Model-for-Athletes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